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9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17" autoAdjust="0"/>
    <p:restoredTop sz="95033" autoAdjust="0"/>
  </p:normalViewPr>
  <p:slideViewPr>
    <p:cSldViewPr>
      <p:cViewPr varScale="1">
        <p:scale>
          <a:sx n="111" d="100"/>
          <a:sy n="111" d="100"/>
        </p:scale>
        <p:origin x="113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7"/>
          <p:cNvSpPr/>
          <p:nvPr userDrawn="1"/>
        </p:nvSpPr>
        <p:spPr>
          <a:xfrm>
            <a:off x="608171" y="381001"/>
            <a:ext cx="45731" cy="683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ítulo 8"/>
          <p:cNvSpPr>
            <a:spLocks noGrp="1"/>
          </p:cNvSpPr>
          <p:nvPr>
            <p:ph type="title" hasCustomPrompt="1"/>
          </p:nvPr>
        </p:nvSpPr>
        <p:spPr>
          <a:xfrm>
            <a:off x="736652" y="381000"/>
            <a:ext cx="7778317" cy="313782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Open Sans Extrabold" panose="020B09060308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TITULO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8171" y="1295401"/>
            <a:ext cx="11051877" cy="4958137"/>
          </a:xfrm>
        </p:spPr>
        <p:txBody>
          <a:bodyPr>
            <a:normAutofit/>
          </a:bodyPr>
          <a:lstStyle>
            <a:lvl1pPr>
              <a:defRPr sz="2400" baseline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 dirty="0"/>
              <a:t>Texto del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11" hasCustomPrompt="1"/>
          </p:nvPr>
        </p:nvSpPr>
        <p:spPr>
          <a:xfrm>
            <a:off x="736652" y="730647"/>
            <a:ext cx="7778317" cy="381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del artículo con una explicación corta a modo resumen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87407"/>
            <a:ext cx="1980287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768" y="6387407"/>
            <a:ext cx="6402465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4.0. LAYOUT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1389" y="6388096"/>
            <a:ext cx="760611" cy="303019"/>
          </a:xfrm>
          <a:prstGeom prst="rect">
            <a:avLst/>
          </a:prstGeom>
          <a:solidFill>
            <a:schemeClr val="bg2"/>
          </a:solidFill>
        </p:spPr>
        <p:txBody>
          <a:bodyPr vert="horz" lIns="117208" tIns="58604" rIns="117208" bIns="58604" rtlCol="0" anchor="ctr"/>
          <a:lstStyle>
            <a:lvl1pPr algn="r">
              <a:defRPr sz="1200">
                <a:solidFill>
                  <a:srgbClr val="FF6309"/>
                </a:solidFill>
              </a:defRPr>
            </a:lvl1pPr>
          </a:lstStyle>
          <a:p>
            <a:fld id="{C2F52289-4012-4053-9770-FE82CEB951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4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scualmunoz/cifoin-lab4.git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92137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latin typeface="Lucida Sans"/>
                <a:cs typeface="Lucida Sans"/>
              </a:rPr>
              <a:t>Lab Book 4.0 </a:t>
            </a:r>
            <a:r>
              <a:rPr lang="es-ES" sz="3200" b="1">
                <a:latin typeface="Lucida Sans"/>
                <a:cs typeface="Lucida Sans"/>
              </a:rPr>
              <a:t>Layout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/>
              <a:t>Student: Marco</a:t>
            </a:r>
            <a:r>
              <a:rPr lang="es-ES" dirty="0"/>
              <a:t> Ibáñez Véliz, Hugo Beltrán Sanz</a:t>
            </a:r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2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3"/>
              </a:rPr>
              <a:t>https://github.com/pascualmunoz/cifoin-lab4.git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folder / repo in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terminal: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uv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 sync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LAYOUT_STUDENT.ipynb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kern="0" dirty="0">
              <a:solidFill>
                <a:sysClr val="windowText" lastClr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LO1: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LO2: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LO3: 1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LO4: 3 points</a:t>
            </a:r>
          </a:p>
          <a:p>
            <a:pPr algn="just"/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#1a - Notebook section 1. Technology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3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r>
              <a:rPr sz="1150">
                <a:latin typeface="Arial"/>
              </a:rPr>
              <a:t>PDK layer check used in the notebook. Passive devices use WG=(1,0); SLAB, HEATER, PAD and FLOORPLAN are kept as separate process layers.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AE4A84-532D-D50D-F368-79FF1C11E97A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4B9AF7-5B09-CE7C-68D9-8620B8F4F607}"/>
              </a:ext>
            </a:extLst>
          </p:cNvPr>
          <p:cNvSpPr txBox="1"/>
          <p:nvPr/>
        </p:nvSpPr>
        <p:spPr>
          <a:xfrm>
            <a:off x="719441" y="1528373"/>
            <a:ext cx="354775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dirty="0">
                <a:latin typeface="Consolas"/>
              </a:rPr>
              <a:t>from upvfab.sin300.cband import PDK, cells</a:t>
            </a:r>
          </a:p>
          <a:p>
            <a:endParaRPr sz="1100" dirty="0">
              <a:latin typeface="Consolas"/>
            </a:endParaRPr>
          </a:p>
          <a:p>
            <a:r>
              <a:rPr sz="1100" dirty="0">
                <a:latin typeface="Consolas"/>
              </a:rPr>
              <a:t>LAYER_VIEWS = </a:t>
            </a:r>
            <a:r>
              <a:rPr sz="1100" dirty="0" err="1">
                <a:latin typeface="Consolas"/>
              </a:rPr>
              <a:t>PDK.layer_views</a:t>
            </a:r>
            <a:endParaRPr sz="1100" dirty="0">
              <a:latin typeface="Consolas"/>
            </a:endParaRPr>
          </a:p>
          <a:p>
            <a:r>
              <a:rPr sz="1100" dirty="0">
                <a:latin typeface="Consolas"/>
              </a:rPr>
              <a:t>c = </a:t>
            </a:r>
            <a:r>
              <a:rPr sz="1100" dirty="0" err="1">
                <a:latin typeface="Consolas"/>
              </a:rPr>
              <a:t>LAYER_VIEWS.preview_layerset</a:t>
            </a:r>
            <a:r>
              <a:rPr sz="1100" dirty="0">
                <a:latin typeface="Consolas"/>
              </a:rPr>
              <a:t>()</a:t>
            </a:r>
          </a:p>
          <a:p>
            <a:r>
              <a:rPr sz="1100" dirty="0" err="1">
                <a:latin typeface="Consolas"/>
              </a:rPr>
              <a:t>c.plot</a:t>
            </a:r>
            <a:r>
              <a:rPr sz="1100" dirty="0">
                <a:latin typeface="Consolas"/>
              </a:rPr>
              <a:t>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EC3D78-C227-4F8E-7F5D-F398FB043D2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700" y="1570406"/>
            <a:ext cx="3994853" cy="30060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F925C6-A9EE-0450-6CF3-EB5E905BE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#1b - Directional coupler layout instance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1751C67-979A-7D64-9474-F59456848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5A815B6-7BA3-E2CF-377E-EACA0F621F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8AEC9F-5174-0EEA-5CD3-65515392F1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BE4500-9BE4-025B-9167-E8AC6466B028}"/>
              </a:ext>
            </a:extLst>
          </p:cNvPr>
          <p:cNvSpPr txBox="1"/>
          <p:nvPr/>
        </p:nvSpPr>
        <p:spPr>
          <a:xfrm>
            <a:off x="609441" y="4860334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r>
              <a:rPr sz="1150">
                <a:latin typeface="Arial"/>
              </a:rPr>
              <a:t>Lab 2 directional coupler instance: gap = 0.6 um and 50:50 interaction length = 47.014 um.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64273-7E07-9E83-F4A6-1AFD1AEFE243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24819-75AC-EB82-A160-7A3DE5BF0740}"/>
              </a:ext>
            </a:extLst>
          </p:cNvPr>
          <p:cNvSpPr txBox="1"/>
          <p:nvPr/>
        </p:nvSpPr>
        <p:spPr>
          <a:xfrm>
            <a:off x="719441" y="1528373"/>
            <a:ext cx="5112571" cy="3086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>
                <a:latin typeface="Consolas"/>
              </a:rPr>
              <a:t>dc = cells.coupler(**LAB2_DC_DESIGN)</a:t>
            </a:r>
          </a:p>
          <a:p>
            <a:r>
              <a:rPr sz="1100">
                <a:latin typeface="Consolas"/>
              </a:rPr>
              <a:t>dc.plot()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E968B-0AE0-37CB-7468-A50896329E7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700" y="1570406"/>
            <a:ext cx="3994853" cy="30060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F925C6-A9EE-0450-6CF3-EB5E905BE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#1b - MMI 2x2 layout instance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1751C67-979A-7D64-9474-F59456848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5A815B6-7BA3-E2CF-377E-EACA0F621F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8AEC9F-5174-0EEA-5CD3-65515392F1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BE4500-9BE4-025B-9167-E8AC6466B028}"/>
              </a:ext>
            </a:extLst>
          </p:cNvPr>
          <p:cNvSpPr txBox="1"/>
          <p:nvPr/>
        </p:nvSpPr>
        <p:spPr>
          <a:xfrm>
            <a:off x="609441" y="4860334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r>
              <a:rPr sz="1150">
                <a:latin typeface="Arial"/>
              </a:rPr>
              <a:t>Lab 2 MMI instance: W_MMI = 6.6 um, L_MMI = 34.718 um, width_taper = 2.0 um and gap_mmi = 1.0 um.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64273-7E07-9E83-F4A6-1AFD1AEFE243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24819-75AC-EB82-A160-7A3DE5BF0740}"/>
              </a:ext>
            </a:extLst>
          </p:cNvPr>
          <p:cNvSpPr txBox="1"/>
          <p:nvPr/>
        </p:nvSpPr>
        <p:spPr>
          <a:xfrm>
            <a:off x="719441" y="1528373"/>
            <a:ext cx="5112571" cy="3086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>
                <a:latin typeface="Consolas"/>
              </a:rPr>
              <a:t>mmi = cells.mmi2x2(**LAB2_MMI2X2_DESIGN)</a:t>
            </a:r>
          </a:p>
          <a:p>
            <a:r>
              <a:rPr sz="1100">
                <a:latin typeface="Consolas"/>
              </a:rPr>
              <a:t>mmi.plot()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E968B-0AE0-37CB-7468-A50896329E7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m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700" y="1570406"/>
            <a:ext cx="3994853" cy="30060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F925C6-A9EE-0450-6CF3-EB5E905BE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#1b - MZI layout instance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1751C67-979A-7D64-9474-F59456848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5A815B6-7BA3-E2CF-377E-EACA0F621F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8AEC9F-5174-0EEA-5CD3-65515392F1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BE4500-9BE4-025B-9167-E8AC6466B028}"/>
              </a:ext>
            </a:extLst>
          </p:cNvPr>
          <p:cNvSpPr txBox="1"/>
          <p:nvPr/>
        </p:nvSpPr>
        <p:spPr>
          <a:xfrm>
            <a:off x="609441" y="4860334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r>
              <a:rPr sz="1150">
                <a:latin typeface="Arial"/>
              </a:rPr>
              <a:t>Lab 3 MZI instance using the Lab 2 MMI as splitter and combiner. The arm imbalance is 120.13 um.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64273-7E07-9E83-F4A6-1AFD1AEFE243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24819-75AC-EB82-A160-7A3DE5BF0740}"/>
              </a:ext>
            </a:extLst>
          </p:cNvPr>
          <p:cNvSpPr txBox="1"/>
          <p:nvPr/>
        </p:nvSpPr>
        <p:spPr>
          <a:xfrm>
            <a:off x="719441" y="1528373"/>
            <a:ext cx="5112571" cy="3086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>
                <a:latin typeface="Consolas"/>
              </a:rPr>
              <a:t>mzi = lab3_unbalanced_mzi(</a:t>
            </a:r>
          </a:p>
          <a:p>
            <a:r>
              <a:rPr sz="1100">
                <a:latin typeface="Consolas"/>
              </a:rPr>
              <a:t>    delta_length=LAB3_MZI_DESIGN["delta_length"]</a:t>
            </a:r>
          </a:p>
          <a:p>
            <a:r>
              <a:rPr sz="1100">
                <a:latin typeface="Consolas"/>
              </a:rPr>
              <a:t>)</a:t>
            </a:r>
          </a:p>
          <a:p>
            <a:r>
              <a:rPr sz="1100">
                <a:latin typeface="Consolas"/>
              </a:rPr>
              <a:t>mzi.plot()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E968B-0AE0-37CB-7468-A50896329E7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mz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700" y="1570406"/>
            <a:ext cx="3994853" cy="3006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F925C6-A9EE-0450-6CF3-EB5E905BE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#1b - Ring resonator layout instance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1751C67-979A-7D64-9474-F59456848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5A815B6-7BA3-E2CF-377E-EACA0F621F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7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8AEC9F-5174-0EEA-5CD3-65515392F1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BE4500-9BE4-025B-9167-E8AC6466B028}"/>
              </a:ext>
            </a:extLst>
          </p:cNvPr>
          <p:cNvSpPr txBox="1"/>
          <p:nvPr/>
        </p:nvSpPr>
        <p:spPr>
          <a:xfrm>
            <a:off x="609441" y="4860334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r>
              <a:rPr sz="1150">
                <a:latin typeface="Arial"/>
              </a:rPr>
              <a:t>Lab 3 ring instance mapped to the PDK-safe layout values: radius = 35 um, length_x = 20 um, length_y = 20 um and gap = 0.6 um.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64273-7E07-9E83-F4A6-1AFD1AEFE243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24819-75AC-EB82-A160-7A3DE5BF0740}"/>
              </a:ext>
            </a:extLst>
          </p:cNvPr>
          <p:cNvSpPr txBox="1"/>
          <p:nvPr/>
        </p:nvSpPr>
        <p:spPr>
          <a:xfrm>
            <a:off x="719441" y="1528373"/>
            <a:ext cx="5112571" cy="3086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>
                <a:latin typeface="Consolas"/>
              </a:rPr>
              <a:t>ring = lab3_allpass_ring_layout(**LAB3_RING_LAYOUT_DESIGN)</a:t>
            </a:r>
          </a:p>
          <a:p>
            <a:r>
              <a:rPr sz="1100">
                <a:latin typeface="Consolas"/>
              </a:rPr>
              <a:t>ring.plot()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E968B-0AE0-37CB-7468-A50896329E7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700" y="1570406"/>
            <a:ext cx="3994853" cy="30060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DCA2EEE-70B8-D049-D7BD-B54DCCF32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#2a - Die as reusable cell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DB8C9DA-7093-6464-A7C1-20B2A585A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102C027-A211-C670-7EF5-D7A4650EEA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8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B5A66E-75F8-8688-0D68-26E0DDB3AC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5C0B36B-B4BD-C242-E1BB-26DD7AC56DB0}"/>
              </a:ext>
            </a:extLst>
          </p:cNvPr>
          <p:cNvSpPr txBox="1"/>
          <p:nvPr/>
        </p:nvSpPr>
        <p:spPr>
          <a:xfrm>
            <a:off x="609441" y="4860334"/>
            <a:ext cx="11199971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r>
              <a:rPr sz="1150">
                <a:latin typeface="Arial"/>
              </a:rPr>
              <a:t>The die cell creates a 5 mm x 10 mm FLOORPLAN frame and 19 optical I/Os per side at 250 um pitch.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9364F4-A34A-5161-07CB-E12F9FFCB400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A2AA3F-CE55-C50B-CB18-2C8D2061FDB9}"/>
              </a:ext>
            </a:extLst>
          </p:cNvPr>
          <p:cNvSpPr txBox="1"/>
          <p:nvPr/>
        </p:nvSpPr>
        <p:spPr>
          <a:xfrm>
            <a:off x="719441" y="1528373"/>
            <a:ext cx="5112571" cy="3086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lab4_die_with_ios(die_width=5000, die_length=10000,</a:t>
            </a:r>
          </a:p>
          <a:p>
            <a:r>
              <a:rPr sz="1100">
                <a:latin typeface="Consolas"/>
              </a:rPr>
              <a:t>                       border=250, io_spacing=250):</a:t>
            </a:r>
          </a:p>
          <a:p>
            <a:r>
              <a:rPr sz="1100">
                <a:latin typeface="Consolas"/>
              </a:rPr>
              <a:t>    c = gf.Component()</a:t>
            </a:r>
          </a:p>
          <a:p>
            <a:r>
              <a:rPr sz="1100">
                <a:latin typeface="Consolas"/>
              </a:rPr>
              <a:t>    n_ios = int((die_width - 2 * border) // io_spacing) + 1</a:t>
            </a:r>
          </a:p>
          <a:p>
            <a:r>
              <a:rPr sz="1100">
                <a:latin typeface="Consolas"/>
              </a:rPr>
              <a:t>    for i in range(n_ios):</a:t>
            </a:r>
          </a:p>
          <a:p>
            <a:r>
              <a:rPr sz="1100">
                <a:latin typeface="Consolas"/>
              </a:rPr>
              <a:t>        left = c.add_ref(gf.components.straight(length=250,</a:t>
            </a:r>
          </a:p>
          <a:p>
            <a:r>
              <a:rPr sz="1100">
                <a:latin typeface="Consolas"/>
              </a:rPr>
              <a:t>                                                cross_section="strip"))</a:t>
            </a:r>
          </a:p>
          <a:p>
            <a:r>
              <a:rPr sz="1100">
                <a:latin typeface="Consolas"/>
              </a:rPr>
              <a:t>        right = c.add_ref(gf.components.straight(length=250,</a:t>
            </a:r>
          </a:p>
          <a:p>
            <a:r>
              <a:rPr sz="1100">
                <a:latin typeface="Consolas"/>
              </a:rPr>
              <a:t>                                                 cross_section="strip"))</a:t>
            </a:r>
          </a:p>
          <a:p>
            <a:r>
              <a:rPr sz="1100">
                <a:latin typeface="Consolas"/>
              </a:rPr>
              <a:t>        c.add_port(name=f"W{i:02d}", port=left["o2"])</a:t>
            </a:r>
          </a:p>
          <a:p>
            <a:r>
              <a:rPr sz="1100">
                <a:latin typeface="Consolas"/>
              </a:rPr>
              <a:t>        c.add_port(name=f"E{i:02d}", port=right["o2"])</a:t>
            </a:r>
          </a:p>
          <a:p>
            <a:r>
              <a:rPr sz="1100">
                <a:latin typeface="Consolas"/>
              </a:rPr>
              <a:t>    return 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FC788C-53E2-83E7-3D9E-EBD582171C71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d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700" y="1570406"/>
            <a:ext cx="3994853" cy="30060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C614703-AB72-E989-42B5-849A55E9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#2a - Directional coupler as cell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2356666-601E-2F0B-B414-AFB7213C2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398BF1-A4DD-D652-E241-5E9DB50DD5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9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070D5-9297-7D8B-73E0-DC21D7D5CE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C2352E-973A-F389-F6A1-D644E07F2E7E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2D8CBF-451B-83CB-7D64-3CD9C64B8333}"/>
              </a:ext>
            </a:extLst>
          </p:cNvPr>
          <p:cNvSpPr txBox="1"/>
          <p:nvPr/>
        </p:nvSpPr>
        <p:spPr>
          <a:xfrm>
            <a:off x="719441" y="1528373"/>
            <a:ext cx="5112571" cy="4531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lab2_directional_coupler_50_50(length=47.014, gap=0.6):</a:t>
            </a:r>
          </a:p>
          <a:p>
            <a:r>
              <a:rPr sz="1100">
                <a:latin typeface="Consolas"/>
              </a:rPr>
              <a:t>    return cells.coupler(length=length, gap=gap)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AAC818-8C43-CF5D-4DB7-21D1E6A0DEED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41" y="1902860"/>
            <a:ext cx="5032571" cy="3786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C614703-AB72-E989-42B5-849A55E9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#2a - MMI 2x2 as cell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2356666-601E-2F0B-B414-AFB7213C2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398BF1-A4DD-D652-E241-5E9DB50DD5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10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070D5-9297-7D8B-73E0-DC21D7D5CE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C2352E-973A-F389-F6A1-D644E07F2E7E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2D8CBF-451B-83CB-7D64-3CD9C64B8333}"/>
              </a:ext>
            </a:extLst>
          </p:cNvPr>
          <p:cNvSpPr txBox="1"/>
          <p:nvPr/>
        </p:nvSpPr>
        <p:spPr>
          <a:xfrm>
            <a:off x="719441" y="1528373"/>
            <a:ext cx="5112571" cy="4531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lab2_mmi2x2_50_50(width_mmi=6.6, length_mmi=34.718,</a:t>
            </a:r>
          </a:p>
          <a:p>
            <a:r>
              <a:rPr sz="1100">
                <a:latin typeface="Consolas"/>
              </a:rPr>
              <a:t>                       width_taper=2.0, gap_mmi=1.0):</a:t>
            </a:r>
          </a:p>
          <a:p>
            <a:r>
              <a:rPr sz="1100">
                <a:latin typeface="Consolas"/>
              </a:rPr>
              <a:t>    return cells.mmi2x2(</a:t>
            </a:r>
          </a:p>
          <a:p>
            <a:r>
              <a:rPr sz="1100">
                <a:latin typeface="Consolas"/>
              </a:rPr>
              <a:t>        width_mmi=width_mmi,</a:t>
            </a:r>
          </a:p>
          <a:p>
            <a:r>
              <a:rPr sz="1100">
                <a:latin typeface="Consolas"/>
              </a:rPr>
              <a:t>        length_mmi=length_mmi,</a:t>
            </a:r>
          </a:p>
          <a:p>
            <a:r>
              <a:rPr sz="1100">
                <a:latin typeface="Consolas"/>
              </a:rPr>
              <a:t>        width_taper=width_taper,</a:t>
            </a:r>
          </a:p>
          <a:p>
            <a:r>
              <a:rPr sz="1100">
                <a:latin typeface="Consolas"/>
              </a:rPr>
              <a:t>        gap_mmi=gap_mmi,</a:t>
            </a:r>
          </a:p>
          <a:p>
            <a:r>
              <a:rPr sz="1100">
                <a:latin typeface="Consolas"/>
              </a:rPr>
              <a:t>        cross_section="strip",</a:t>
            </a:r>
          </a:p>
          <a:p>
            <a:r>
              <a:rPr sz="1100">
                <a:latin typeface="Consolas"/>
              </a:rPr>
              <a:t>    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AAC818-8C43-CF5D-4DB7-21D1E6A0DEED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m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41" y="1902860"/>
            <a:ext cx="5032571" cy="37868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C614703-AB72-E989-42B5-849A55E9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#2a - MZI as cell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2356666-601E-2F0B-B414-AFB7213C2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398BF1-A4DD-D652-E241-5E9DB50DD5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11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070D5-9297-7D8B-73E0-DC21D7D5CE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C2352E-973A-F389-F6A1-D644E07F2E7E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2D8CBF-451B-83CB-7D64-3CD9C64B8333}"/>
              </a:ext>
            </a:extLst>
          </p:cNvPr>
          <p:cNvSpPr txBox="1"/>
          <p:nvPr/>
        </p:nvSpPr>
        <p:spPr>
          <a:xfrm>
            <a:off x="719441" y="1528373"/>
            <a:ext cx="5112571" cy="4531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lab3_unbalanced_mzi(delta_length=120.13, length_y=80):</a:t>
            </a:r>
          </a:p>
          <a:p>
            <a:r>
              <a:rPr sz="1100">
                <a:latin typeface="Consolas"/>
              </a:rPr>
              <a:t>    mmi = lab2_mmi2x2_50_50()</a:t>
            </a:r>
          </a:p>
          <a:p>
            <a:r>
              <a:rPr sz="1100">
                <a:latin typeface="Consolas"/>
              </a:rPr>
              <a:t>    return gf.components.mzi(</a:t>
            </a:r>
          </a:p>
          <a:p>
            <a:r>
              <a:rPr sz="1100">
                <a:latin typeface="Consolas"/>
              </a:rPr>
              <a:t>        delta_length=delta_length,</a:t>
            </a:r>
          </a:p>
          <a:p>
            <a:r>
              <a:rPr sz="1100">
                <a:latin typeface="Consolas"/>
              </a:rPr>
              <a:t>        splitter=mmi,</a:t>
            </a:r>
          </a:p>
          <a:p>
            <a:r>
              <a:rPr sz="1100">
                <a:latin typeface="Consolas"/>
              </a:rPr>
              <a:t>        combiner=mmi,</a:t>
            </a:r>
          </a:p>
          <a:p>
            <a:r>
              <a:rPr sz="1100">
                <a:latin typeface="Consolas"/>
              </a:rPr>
              <a:t>        port_e1_splitter="o3",</a:t>
            </a:r>
          </a:p>
          <a:p>
            <a:r>
              <a:rPr sz="1100">
                <a:latin typeface="Consolas"/>
              </a:rPr>
              <a:t>        port_e0_splitter="o4",</a:t>
            </a:r>
          </a:p>
          <a:p>
            <a:r>
              <a:rPr sz="1100">
                <a:latin typeface="Consolas"/>
              </a:rPr>
              <a:t>        port_e1_combiner="o3",</a:t>
            </a:r>
          </a:p>
          <a:p>
            <a:r>
              <a:rPr sz="1100">
                <a:latin typeface="Consolas"/>
              </a:rPr>
              <a:t>        port_e0_combiner="o4",</a:t>
            </a:r>
          </a:p>
          <a:p>
            <a:r>
              <a:rPr sz="1100">
                <a:latin typeface="Consolas"/>
              </a:rPr>
              <a:t>    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AAC818-8C43-CF5D-4DB7-21D1E6A0DEED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mz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41" y="1902860"/>
            <a:ext cx="5032571" cy="3786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C614703-AB72-E989-42B5-849A55E9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#2a - Ring as cell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2356666-601E-2F0B-B414-AFB7213C2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398BF1-A4DD-D652-E241-5E9DB50DD5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12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070D5-9297-7D8B-73E0-DC21D7D5CE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C2352E-973A-F389-F6A1-D644E07F2E7E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2D8CBF-451B-83CB-7D64-3CD9C64B8333}"/>
              </a:ext>
            </a:extLst>
          </p:cNvPr>
          <p:cNvSpPr txBox="1"/>
          <p:nvPr/>
        </p:nvSpPr>
        <p:spPr>
          <a:xfrm>
            <a:off x="719441" y="1528373"/>
            <a:ext cx="5112571" cy="4531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lab3_allpass_ring_layout(radius=35, length_x=20,</a:t>
            </a:r>
          </a:p>
          <a:p>
            <a:r>
              <a:rPr sz="1100">
                <a:latin typeface="Consolas"/>
              </a:rPr>
              <a:t>                             length_y=20, gap=0.6):</a:t>
            </a:r>
          </a:p>
          <a:p>
            <a:r>
              <a:rPr sz="1100">
                <a:latin typeface="Consolas"/>
              </a:rPr>
              <a:t>    return cells.ring_single(</a:t>
            </a:r>
          </a:p>
          <a:p>
            <a:r>
              <a:rPr sz="1100">
                <a:latin typeface="Consolas"/>
              </a:rPr>
              <a:t>        radius=radius,</a:t>
            </a:r>
          </a:p>
          <a:p>
            <a:r>
              <a:rPr sz="1100">
                <a:latin typeface="Consolas"/>
              </a:rPr>
              <a:t>        length_x=length_x,</a:t>
            </a:r>
          </a:p>
          <a:p>
            <a:r>
              <a:rPr sz="1100">
                <a:latin typeface="Consolas"/>
              </a:rPr>
              <a:t>        length_y=length_y,</a:t>
            </a:r>
          </a:p>
          <a:p>
            <a:r>
              <a:rPr sz="1100">
                <a:latin typeface="Consolas"/>
              </a:rPr>
              <a:t>        gap=gap,</a:t>
            </a:r>
          </a:p>
          <a:p>
            <a:r>
              <a:rPr sz="1100">
                <a:latin typeface="Consolas"/>
              </a:rPr>
              <a:t>        cross_section="strip",</a:t>
            </a:r>
          </a:p>
          <a:p>
            <a:r>
              <a:rPr sz="1100">
                <a:latin typeface="Consolas"/>
              </a:rPr>
              <a:t>    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AAC818-8C43-CF5D-4DB7-21D1E6A0DEED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41" y="1902860"/>
            <a:ext cx="5032571" cy="3786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D9825A0-3864-7B82-F4C0-6912BF1AE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#3 - Notebook section 3. Complete layout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DEB6AD1-A7A1-CBBC-33E2-C1A03F2E3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0F7002D-478B-4959-3169-5E518898EB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13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05F97E-3B7E-8203-F806-FFA5E41962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187553-D412-F56C-DD26-11B2C97C2B31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r>
              <a:rPr sz="1200"/>
              <a:t>Read and describe 4 code blocks in section 3</a:t>
            </a:r>
          </a:p>
          <a:p>
            <a:endParaRPr sz="1200"/>
          </a:p>
          <a:p>
            <a:r>
              <a:rPr sz="1200"/>
              <a:t>Python code block 1: creates the main component, die frame and first MMI routing.</a:t>
            </a:r>
          </a:p>
          <a:p>
            <a:endParaRPr sz="1200"/>
          </a:p>
          <a:p>
            <a:r>
              <a:rPr sz="1200"/>
              <a:t>Python code block 2: tests a flat 1x4 MMI tree with three 1x2 MMIs.</a:t>
            </a:r>
          </a:p>
          <a:p>
            <a:endParaRPr sz="1200"/>
          </a:p>
          <a:p>
            <a:r>
              <a:rPr sz="1200"/>
              <a:t>Python code block 3: converts the MMI tree into a reusable @gf.cell.</a:t>
            </a:r>
          </a:p>
          <a:p>
            <a:endParaRPr sz="1200"/>
          </a:p>
          <a:p>
            <a:r>
              <a:rPr sz="1200"/>
              <a:t>Python code block 4: adds I/O arrays and routes the tree to the die waveguides.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4B67F4D-126C-4796-4E73-E68F0F3CB6B3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sectio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00" y="1572428"/>
            <a:ext cx="5338799" cy="40173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#4 - Unbalanced MZI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35234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lab4_unbalanced_mzi(delta_length=120.13, length_y=80):</a:t>
            </a:r>
          </a:p>
          <a:p>
            <a:r>
              <a:rPr sz="1100">
                <a:latin typeface="Consolas"/>
              </a:rPr>
              <a:t>    mmi = lab2_mmi2x2_50_50()</a:t>
            </a:r>
          </a:p>
          <a:p>
            <a:r>
              <a:rPr sz="1100">
                <a:latin typeface="Consolas"/>
              </a:rPr>
              <a:t>    return gf.components.mzi(</a:t>
            </a:r>
          </a:p>
          <a:p>
            <a:r>
              <a:rPr sz="1100">
                <a:latin typeface="Consolas"/>
              </a:rPr>
              <a:t>        delta_length=delta_length,</a:t>
            </a:r>
          </a:p>
          <a:p>
            <a:r>
              <a:rPr sz="1100">
                <a:latin typeface="Consolas"/>
              </a:rPr>
              <a:t>        splitter=mmi,</a:t>
            </a:r>
          </a:p>
          <a:p>
            <a:r>
              <a:rPr sz="1100">
                <a:latin typeface="Consolas"/>
              </a:rPr>
              <a:t>        combiner=mmi,</a:t>
            </a:r>
          </a:p>
          <a:p>
            <a:r>
              <a:rPr sz="1100">
                <a:latin typeface="Consolas"/>
              </a:rPr>
              <a:t>        port_e1_splitter="o3",</a:t>
            </a:r>
          </a:p>
          <a:p>
            <a:r>
              <a:rPr sz="1100">
                <a:latin typeface="Consolas"/>
              </a:rPr>
              <a:t>        port_e0_splitter="o4",</a:t>
            </a:r>
          </a:p>
          <a:p>
            <a:r>
              <a:rPr sz="1100">
                <a:latin typeface="Consolas"/>
              </a:rPr>
              <a:t>        port_e1_combiner="o3",</a:t>
            </a:r>
          </a:p>
          <a:p>
            <a:r>
              <a:rPr sz="1100">
                <a:latin typeface="Consolas"/>
              </a:rPr>
              <a:t>        port_e0_combiner="o4",</a:t>
            </a:r>
          </a:p>
          <a:p>
            <a:r>
              <a:rPr sz="1100">
                <a:latin typeface="Consolas"/>
              </a:rPr>
              <a:t>    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mz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00" y="1572428"/>
            <a:ext cx="5338799" cy="401731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85800" y="4721352"/>
            <a:ext cx="54102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latin typeface="Arial"/>
              </a:rPr>
              <a:t>Unbalanced MZI using the Lab 2 2x2 50:50 MMI; delta_length is the design parameter.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#4 - MZI with thermal tuners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35234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lab4_thermal_mzi(delta_length=120.13, length_y=80):</a:t>
            </a:r>
          </a:p>
          <a:p>
            <a:r>
              <a:rPr sz="1100">
                <a:latin typeface="Consolas"/>
              </a:rPr>
              <a:t>    mmi = lab2_mmi2x2_50_50()</a:t>
            </a:r>
          </a:p>
          <a:p>
            <a:r>
              <a:rPr sz="1100">
                <a:latin typeface="Consolas"/>
              </a:rPr>
              <a:t>    return gf.components.mzi(</a:t>
            </a:r>
          </a:p>
          <a:p>
            <a:r>
              <a:rPr sz="1100">
                <a:latin typeface="Consolas"/>
              </a:rPr>
              <a:t>        delta_length=delta_length,</a:t>
            </a:r>
          </a:p>
          <a:p>
            <a:r>
              <a:rPr sz="1100">
                <a:latin typeface="Consolas"/>
              </a:rPr>
              <a:t>        splitter=mmi,</a:t>
            </a:r>
          </a:p>
          <a:p>
            <a:r>
              <a:rPr sz="1100">
                <a:latin typeface="Consolas"/>
              </a:rPr>
              <a:t>        combiner=mmi,</a:t>
            </a:r>
          </a:p>
          <a:p>
            <a:r>
              <a:rPr sz="1100">
                <a:latin typeface="Consolas"/>
              </a:rPr>
              <a:t>        cross_section_x_top="strip_heater_metal",</a:t>
            </a:r>
          </a:p>
          <a:p>
            <a:r>
              <a:rPr sz="1100">
                <a:latin typeface="Consolas"/>
              </a:rPr>
              <a:t>        cross_section_x_bot="strip_heater_metal",</a:t>
            </a:r>
          </a:p>
          <a:p>
            <a:r>
              <a:rPr sz="1100">
                <a:latin typeface="Consolas"/>
              </a:rPr>
              <a:t>        port_e1_splitter="o3",</a:t>
            </a:r>
          </a:p>
          <a:p>
            <a:r>
              <a:rPr sz="1100">
                <a:latin typeface="Consolas"/>
              </a:rPr>
              <a:t>        port_e0_splitter="o4",</a:t>
            </a:r>
          </a:p>
          <a:p>
            <a:r>
              <a:rPr sz="1100">
                <a:latin typeface="Consolas"/>
              </a:rPr>
              <a:t>        port_e1_combiner="o3",</a:t>
            </a:r>
          </a:p>
          <a:p>
            <a:r>
              <a:rPr sz="1100">
                <a:latin typeface="Consolas"/>
              </a:rPr>
              <a:t>        port_e0_combiner="o4",</a:t>
            </a:r>
          </a:p>
          <a:p>
            <a:r>
              <a:rPr sz="1100">
                <a:latin typeface="Consolas"/>
              </a:rPr>
              <a:t>    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thermal_mz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00" y="1572428"/>
            <a:ext cx="5338799" cy="401731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85800" y="4721352"/>
            <a:ext cx="54102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latin typeface="Arial"/>
              </a:rPr>
              <a:t>Thermal version of the MZI: both horizontal arms use the PDK heater-metal cross-section.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#4 - All-pass ring with MMI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35234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lab4_mmi_allpass_ring(extra_length=0, thermal=False):</a:t>
            </a:r>
          </a:p>
          <a:p>
            <a:r>
              <a:rPr sz="1100">
                <a:latin typeface="Consolas"/>
              </a:rPr>
              <a:t>    c = gf.Component()</a:t>
            </a:r>
          </a:p>
          <a:p>
            <a:r>
              <a:rPr sz="1100">
                <a:latin typeface="Consolas"/>
              </a:rPr>
              <a:t>    mmi = c.add_ref(lab2_mmi2x2_50_50())</a:t>
            </a:r>
          </a:p>
          <a:p>
            <a:r>
              <a:rPr sz="1100">
                <a:latin typeface="Consolas"/>
              </a:rPr>
              <a:t>    loop_xs = "strip_heater_metal" if thermal else "strip"</a:t>
            </a:r>
          </a:p>
          <a:p>
            <a:r>
              <a:rPr sz="1100">
                <a:latin typeface="Consolas"/>
              </a:rPr>
              <a:t>    p_start = mmi["o4"]</a:t>
            </a:r>
          </a:p>
          <a:p>
            <a:r>
              <a:rPr sz="1100">
                <a:latin typeface="Consolas"/>
              </a:rPr>
              <a:t>    p_stop = mmi["o2"]</a:t>
            </a:r>
          </a:p>
          <a:p>
            <a:r>
              <a:rPr sz="1100">
                <a:latin typeface="Consolas"/>
              </a:rPr>
              <a:t>    x0, y0 = p_start.center</a:t>
            </a:r>
          </a:p>
          <a:p>
            <a:r>
              <a:rPr sz="1100">
                <a:latin typeface="Consolas"/>
              </a:rPr>
              <a:t>    x1, y1 = p_stop.center</a:t>
            </a:r>
          </a:p>
          <a:p>
            <a:r>
              <a:rPr sz="1100">
                <a:latin typeface="Consolas"/>
              </a:rPr>
              <a:t>    waypoints = [(x0 + 80, y0), (x0 + 80, y0 + 180),</a:t>
            </a:r>
          </a:p>
          <a:p>
            <a:r>
              <a:rPr sz="1100">
                <a:latin typeface="Consolas"/>
              </a:rPr>
              <a:t>                 (x1 - 80, y0 + 180), (x1 - 80, y1)]</a:t>
            </a:r>
          </a:p>
          <a:p>
            <a:r>
              <a:rPr sz="1100">
                <a:latin typeface="Consolas"/>
              </a:rPr>
              <a:t>    gf.routing.route_single(c, p_start, p_stop,</a:t>
            </a:r>
          </a:p>
          <a:p>
            <a:r>
              <a:rPr sz="1100">
                <a:latin typeface="Consolas"/>
              </a:rPr>
              <a:t>                            waypoints=waypoints, cross_section=loop_xs)</a:t>
            </a:r>
          </a:p>
          <a:p>
            <a:r>
              <a:rPr sz="1100">
                <a:latin typeface="Consolas"/>
              </a:rPr>
              <a:t>    return 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mmi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00" y="1572428"/>
            <a:ext cx="5338799" cy="401731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85800" y="4721352"/>
            <a:ext cx="54102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latin typeface="Arial"/>
              </a:rPr>
              <a:t>All-pass ring based on one 2x2 MMI; extra_length changes the feedback-loop perimeter.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#4 - Thermal all-pass ring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17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35234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lab4_thermal_mmi_allpass_ring(extra_length=0, loop_height=180):</a:t>
            </a:r>
          </a:p>
          <a:p>
            <a:r>
              <a:rPr sz="1100">
                <a:latin typeface="Consolas"/>
              </a:rPr>
              <a:t>    return lab4_mmi_allpass_ring(</a:t>
            </a:r>
          </a:p>
          <a:p>
            <a:r>
              <a:rPr sz="1100">
                <a:latin typeface="Consolas"/>
              </a:rPr>
              <a:t>        extra_length=extra_length,</a:t>
            </a:r>
          </a:p>
          <a:p>
            <a:r>
              <a:rPr sz="1100">
                <a:latin typeface="Consolas"/>
              </a:rPr>
              <a:t>        loop_height=loop_height,</a:t>
            </a:r>
          </a:p>
          <a:p>
            <a:r>
              <a:rPr sz="1100">
                <a:latin typeface="Consolas"/>
              </a:rPr>
              <a:t>        thermal=True,</a:t>
            </a:r>
          </a:p>
          <a:p>
            <a:r>
              <a:rPr sz="1100">
                <a:latin typeface="Consolas"/>
              </a:rPr>
              <a:t>    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thermal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00" y="1572428"/>
            <a:ext cx="5338799" cy="401731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85800" y="4721352"/>
            <a:ext cx="54102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latin typeface="Arial"/>
              </a:rPr>
              <a:t>Thermal ring wrapper: same MMI ring, but the loop is routed with heater metal.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#4 - Spiral component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18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35234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r>
              <a:rPr sz="1100">
                <a:latin typeface="Consolas"/>
              </a:rPr>
              <a:t>@gf.cell</a:t>
            </a:r>
          </a:p>
          <a:p>
            <a:r>
              <a:rPr sz="1100">
                <a:latin typeface="Consolas"/>
              </a:rPr>
              <a:t>def lab4_spiral_delay(length=500, n_loops=6, spacing=6):</a:t>
            </a:r>
          </a:p>
          <a:p>
            <a:r>
              <a:rPr sz="1100">
                <a:latin typeface="Consolas"/>
              </a:rPr>
              <a:t>    return cells.spiral(</a:t>
            </a:r>
          </a:p>
          <a:p>
            <a:r>
              <a:rPr sz="1100">
                <a:latin typeface="Consolas"/>
              </a:rPr>
              <a:t>        length=length,</a:t>
            </a:r>
          </a:p>
          <a:p>
            <a:r>
              <a:rPr sz="1100">
                <a:latin typeface="Consolas"/>
              </a:rPr>
              <a:t>        n_loops=n_loops,</a:t>
            </a:r>
          </a:p>
          <a:p>
            <a:r>
              <a:rPr sz="1100">
                <a:latin typeface="Consolas"/>
              </a:rPr>
              <a:t>        spacing=spacing,</a:t>
            </a:r>
          </a:p>
          <a:p>
            <a:r>
              <a:rPr sz="1100">
                <a:latin typeface="Consolas"/>
              </a:rPr>
              <a:t>        cross_section="strip",</a:t>
            </a:r>
          </a:p>
          <a:p>
            <a:r>
              <a:rPr sz="1100">
                <a:latin typeface="Consolas"/>
              </a:rPr>
              <a:t>    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spi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00" y="1572428"/>
            <a:ext cx="5338799" cy="401731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85800" y="4721352"/>
            <a:ext cx="54102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latin typeface="Arial"/>
              </a:rPr>
              <a:t>Spiral delay component based on the existing PDK/GDSFactory spiral cell.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#4 - Die with I/O array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19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35234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r>
              <a:rPr sz="1100">
                <a:latin typeface="Consolas"/>
              </a:rPr>
              <a:t>die_with_ios = lab4_die_with_ios()</a:t>
            </a:r>
          </a:p>
          <a:p>
            <a:r>
              <a:rPr sz="1100">
                <a:latin typeface="Consolas"/>
              </a:rPr>
              <a:t>print(die_with_ios.info["n_ios_per_side"])</a:t>
            </a:r>
          </a:p>
          <a:p>
            <a:r>
              <a:rPr sz="1100">
                <a:latin typeface="Consolas"/>
              </a:rPr>
              <a:t>print(len(die_with_ios.ports))</a:t>
            </a:r>
          </a:p>
          <a:p>
            <a:r>
              <a:rPr sz="1100">
                <a:latin typeface="Consolas"/>
              </a:rPr>
              <a:t>die_with_ios.plot()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d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00" y="1572428"/>
            <a:ext cx="5338799" cy="401731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85800" y="4721352"/>
            <a:ext cx="54102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latin typeface="Arial"/>
              </a:rPr>
              <a:t>Result: 19 optical I/Os per side and 38 accessible optical ports in total.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Learning outcome #4 - Complete die floorplan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20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35234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r>
              <a:rPr sz="1100">
                <a:latin typeface="Consolas"/>
              </a:rPr>
              <a:t>lab4_complete = lab4_complete_floorplan()</a:t>
            </a:r>
          </a:p>
          <a:p>
            <a:r>
              <a:rPr sz="1100">
                <a:latin typeface="Consolas"/>
              </a:rPr>
              <a:t>print("Straight rows:", [0, 1, 2, 8, 9, 10, 16, 17, 18])</a:t>
            </a:r>
          </a:p>
          <a:p>
            <a:r>
              <a:rPr sz="1100">
                <a:latin typeface="Consolas"/>
              </a:rPr>
              <a:t>print("Device chain rows:", [4, 7, 12, 14, 15])</a:t>
            </a:r>
          </a:p>
          <a:p>
            <a:r>
              <a:rPr sz="1100">
                <a:latin typeface="Consolas"/>
              </a:rPr>
              <a:t>lab4_complete.write_gds("lab4_complete_floorplan.gds")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 descr="floor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00" y="1572428"/>
            <a:ext cx="5338799" cy="401731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85800" y="4721352"/>
            <a:ext cx="54102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latin typeface="Arial"/>
              </a:rPr>
              <a:t>Final validation: 3 sets of 3 straight waveguides plus two instances of each created component, routed to die I/Os.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sz="1200"/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</TotalTime>
  <Words>1910</Words>
  <Application>Microsoft Office PowerPoint</Application>
  <PresentationFormat>Panorámica</PresentationFormat>
  <Paragraphs>225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Consolas</vt:lpstr>
      <vt:lpstr>Lucida Sans</vt:lpstr>
      <vt:lpstr>Wingdings</vt:lpstr>
      <vt:lpstr>Office Theme</vt:lpstr>
      <vt:lpstr>Presentación de PowerPoint</vt:lpstr>
      <vt:lpstr>Instructions General</vt:lpstr>
      <vt:lpstr>Learning outcome #1a - Notebook section 1. Technology</vt:lpstr>
      <vt:lpstr>Learning outcome #1b - Directional coupler layout instance</vt:lpstr>
      <vt:lpstr>Learning outcome #1b - MMI 2x2 layout instance</vt:lpstr>
      <vt:lpstr>Learning outcome #1b - MZI layout instance</vt:lpstr>
      <vt:lpstr>Learning outcome #1b - Ring resonator layout instance</vt:lpstr>
      <vt:lpstr>Learning outcome #2a - Die as reusable cell</vt:lpstr>
      <vt:lpstr>Learning outcome #2a - Directional coupler as cell</vt:lpstr>
      <vt:lpstr>Learning outcome #2a - MMI 2x2 as cell</vt:lpstr>
      <vt:lpstr>Learning outcome #2a - MZI as cell</vt:lpstr>
      <vt:lpstr>Learning outcome #2a - Ring as cell</vt:lpstr>
      <vt:lpstr>Learning outcome #3 - Notebook section 3. Complete layout</vt:lpstr>
      <vt:lpstr>Learning outcome #4 - Unbalanced MZI</vt:lpstr>
      <vt:lpstr>Learning outcome #4 - MZI with thermal tuners</vt:lpstr>
      <vt:lpstr>Learning outcome #4 - All-pass ring with MMI</vt:lpstr>
      <vt:lpstr>Learning outcome #4 - Thermal all-pass ring</vt:lpstr>
      <vt:lpstr>Learning outcome #4 - Spiral component</vt:lpstr>
      <vt:lpstr>Learning outcome #4 - Die with I/O array</vt:lpstr>
      <vt:lpstr>Learning outcome #4 - Complete die floorplan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Marco Ibañez Veliz</cp:lastModifiedBy>
  <cp:revision>28</cp:revision>
  <dcterms:created xsi:type="dcterms:W3CDTF">2025-01-27T02:46:57Z</dcterms:created>
  <dcterms:modified xsi:type="dcterms:W3CDTF">2026-06-12T13:56:42Z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